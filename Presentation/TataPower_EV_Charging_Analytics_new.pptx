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3.xml" ContentType="application/vnd.openxmlformats-officedocument.drawingml.chart+xml"/>
  <Override PartName="/ppt/notesSlides/notesSlide13.xml" ContentType="application/vnd.openxmlformats-officedocument.presentationml.notesSlide+xml"/>
  <Override PartName="/ppt/charts/chart4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48" y="-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B2430"/>
                </a:solidFill>
                <a:latin typeface="Arial"/>
              </a:defRPr>
            </a:pPr>
            <a:r>
              <a:rPr lang="en-IN" sz="1100" b="0" i="0" u="none" strike="noStrike">
                <a:solidFill>
                  <a:srgbClr val="1B2430"/>
                </a:solidFill>
                <a:latin typeface="Arial"/>
              </a:rPr>
              <a:t>Sum of kWh Charged by Month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kWh Charged</c:v>
                </c:pt>
              </c:strCache>
            </c:strRef>
          </c:tx>
          <c:spPr>
            <a:solidFill>
              <a:srgbClr val="1C6FB0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Aug</c:v>
                </c:pt>
                <c:pt idx="1">
                  <c:v>Sep</c:v>
                </c:pt>
                <c:pt idx="2">
                  <c:v>Oct</c:v>
                </c:pt>
                <c:pt idx="3">
                  <c:v>Nov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673452</c:v>
                </c:pt>
                <c:pt idx="1">
                  <c:v>965758</c:v>
                </c:pt>
                <c:pt idx="2">
                  <c:v>995386</c:v>
                </c:pt>
                <c:pt idx="3">
                  <c:v>225176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818-40B2-88FB-1FA3642AF7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6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B2430"/>
                </a:solidFill>
                <a:latin typeface="Arial"/>
              </a:defRPr>
            </a:pPr>
            <a:r>
              <a:rPr lang="en-IN" sz="1100" b="0" i="0" u="none" strike="noStrike">
                <a:solidFill>
                  <a:srgbClr val="1B2430"/>
                </a:solidFill>
                <a:latin typeface="Arial"/>
              </a:rPr>
              <a:t>Charging Demand by Day of Week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kWh Charged</c:v>
                </c:pt>
              </c:strCache>
            </c:strRef>
          </c:tx>
          <c:spPr>
            <a:ln w="31750" cap="flat">
              <a:solidFill>
                <a:srgbClr val="F26E22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F26E22"/>
              </a:solidFill>
              <a:ln w="9525" cap="flat">
                <a:solidFill>
                  <a:srgbClr val="F26E22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417323</c:v>
                </c:pt>
                <c:pt idx="1">
                  <c:v>418207</c:v>
                </c:pt>
                <c:pt idx="2">
                  <c:v>422358</c:v>
                </c:pt>
                <c:pt idx="3">
                  <c:v>416978</c:v>
                </c:pt>
                <c:pt idx="4">
                  <c:v>384772</c:v>
                </c:pt>
                <c:pt idx="5">
                  <c:v>382782</c:v>
                </c:pt>
                <c:pt idx="6">
                  <c:v>417352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BBF-4754-AAA5-06188110AE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6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430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1B2430"/>
                </a:solidFill>
                <a:latin typeface="Arial"/>
              </a:rPr>
              <a:t>Sum of kWh Charged by Income Tier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kWh Charged</c:v>
                </c:pt>
              </c:strCache>
            </c:strRef>
          </c:tx>
          <c:spPr>
            <a:solidFill>
              <a:srgbClr val="F26E2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B243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High</c:v>
                </c:pt>
                <c:pt idx="1">
                  <c:v>Low-Mid</c:v>
                </c:pt>
                <c:pt idx="2">
                  <c:v>Mid-Range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888659</c:v>
                </c:pt>
                <c:pt idx="1">
                  <c:v>943603</c:v>
                </c:pt>
                <c:pt idx="2">
                  <c:v>1027509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846-4B21-B901-1DC4C3BDB13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6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430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1B2430"/>
                </a:solidFill>
                <a:latin typeface="Arial"/>
              </a:rPr>
              <a:t>Top Districts by Average ROI %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ROI %</c:v>
                </c:pt>
              </c:strCache>
            </c:strRef>
          </c:tx>
          <c:spPr>
            <a:solidFill>
              <a:srgbClr val="1C6FB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B243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Bommanahalli</c:v>
                </c:pt>
                <c:pt idx="1">
                  <c:v>Marathahalli</c:v>
                </c:pt>
                <c:pt idx="2">
                  <c:v>Banashankari</c:v>
                </c:pt>
                <c:pt idx="3">
                  <c:v>Electronic City</c:v>
                </c:pt>
                <c:pt idx="4">
                  <c:v>HSR Layout</c:v>
                </c:pt>
                <c:pt idx="5">
                  <c:v>JP Nagar</c:v>
                </c:pt>
                <c:pt idx="6">
                  <c:v>Jayanagar</c:v>
                </c:pt>
                <c:pt idx="7">
                  <c:v>Yelahanka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144.69999999999999</c:v>
                </c:pt>
                <c:pt idx="1">
                  <c:v>82.4</c:v>
                </c:pt>
                <c:pt idx="2">
                  <c:v>80.2</c:v>
                </c:pt>
                <c:pt idx="3">
                  <c:v>75</c:v>
                </c:pt>
                <c:pt idx="4">
                  <c:v>65.599999999999994</c:v>
                </c:pt>
                <c:pt idx="5">
                  <c:v>62.8</c:v>
                </c:pt>
                <c:pt idx="6">
                  <c:v>59.1</c:v>
                </c:pt>
                <c:pt idx="7">
                  <c:v>54.4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63D-4DAD-AF51-2E83EC0AA48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6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94424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03120"/>
            <a:ext cx="5943600" cy="5943600"/>
          </a:xfrm>
          <a:prstGeom prst="ellipse">
            <a:avLst/>
          </a:prstGeom>
          <a:solidFill>
            <a:srgbClr val="1632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607040" y="4206240"/>
            <a:ext cx="3291840" cy="3291840"/>
          </a:xfrm>
          <a:prstGeom prst="ellipse">
            <a:avLst/>
          </a:prstGeom>
          <a:solidFill>
            <a:srgbClr val="F26E2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/home/claude/work/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48640"/>
            <a:ext cx="1417320" cy="868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331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6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&amp; EXCEL ANALYTICS PORTFOLIO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21792" y="2697480"/>
            <a:ext cx="9875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Charging Infrastructure</a:t>
            </a:r>
            <a:endParaRPr lang="en-US" sz="44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640080" y="4343400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Performance, utilization, customer behavior &amp; ROI analysis across 18 Bengaluru districts — built for Tata Power on Excel Power Pivot &amp; Power BI.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" y="5989320"/>
            <a:ext cx="1005840" cy="0"/>
          </a:xfrm>
          <a:prstGeom prst="line">
            <a:avLst/>
          </a:prstGeom>
          <a:noFill/>
          <a:ln w="25400">
            <a:solidFill>
              <a:srgbClr val="F26E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64008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Shubham Paitwar</a:t>
            </a:r>
            <a:r>
              <a:rPr lang="en-US" sz="130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Data Analyst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3840480"/>
            <a:ext cx="5486400" cy="5486400"/>
          </a:xfrm>
          <a:prstGeom prst="ellipse">
            <a:avLst/>
          </a:prstGeom>
          <a:solidFill>
            <a:srgbClr val="1632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2331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6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HIGHLIGHT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2697480"/>
            <a:ext cx="96012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Interactive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02920" y="44348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page is fully interactive — sliced live by district, station and income tier — covering usage, station operations, customer behavior and financial ROI.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2920" y="5257800"/>
            <a:ext cx="2590724" cy="1051560"/>
          </a:xfrm>
          <a:prstGeom prst="roundRect">
            <a:avLst>
              <a:gd name="adj" fmla="val 6957"/>
            </a:avLst>
          </a:prstGeom>
          <a:solidFill>
            <a:srgbClr val="16324F"/>
          </a:solidFill>
          <a:ln w="12700">
            <a:solidFill>
              <a:srgbClr val="2A4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40080" y="5349240"/>
            <a:ext cx="23164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6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5687568"/>
            <a:ext cx="23164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Usage Overview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67964" y="5257800"/>
            <a:ext cx="2590724" cy="1051560"/>
          </a:xfrm>
          <a:prstGeom prst="roundRect">
            <a:avLst>
              <a:gd name="adj" fmla="val 6957"/>
            </a:avLst>
          </a:prstGeom>
          <a:solidFill>
            <a:srgbClr val="16324F"/>
          </a:solidFill>
          <a:ln w="12700">
            <a:solidFill>
              <a:srgbClr val="2A4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505124" y="5349240"/>
            <a:ext cx="23164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6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05124" y="5687568"/>
            <a:ext cx="23164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Utilization &amp; Efficiency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33008" y="5257800"/>
            <a:ext cx="2590724" cy="1051560"/>
          </a:xfrm>
          <a:prstGeom prst="roundRect">
            <a:avLst>
              <a:gd name="adj" fmla="val 6957"/>
            </a:avLst>
          </a:prstGeom>
          <a:solidFill>
            <a:srgbClr val="16324F"/>
          </a:solidFill>
          <a:ln w="12700">
            <a:solidFill>
              <a:srgbClr val="2A4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370168" y="5349240"/>
            <a:ext cx="23164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6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70168" y="5687568"/>
            <a:ext cx="23164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&amp; Demand Behavior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098051" y="5257800"/>
            <a:ext cx="2590724" cy="1051560"/>
          </a:xfrm>
          <a:prstGeom prst="roundRect">
            <a:avLst>
              <a:gd name="adj" fmla="val 6957"/>
            </a:avLst>
          </a:prstGeom>
          <a:solidFill>
            <a:srgbClr val="16324F"/>
          </a:solidFill>
          <a:ln w="12700">
            <a:solidFill>
              <a:srgbClr val="2A4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9235211" y="5349240"/>
            <a:ext cx="23164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6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235211" y="5687568"/>
            <a:ext cx="23164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Performance &amp; ROI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532534" cy="292608"/>
          </a:xfrm>
          <a:prstGeom prst="roundRect">
            <a:avLst>
              <a:gd name="adj" fmla="val 50000"/>
            </a:avLst>
          </a:prstGeom>
          <a:solidFill>
            <a:srgbClr val="E7F0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153253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2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Usage Overview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66344" y="1380744"/>
            <a:ext cx="11259007" cy="4755014"/>
          </a:xfrm>
          <a:prstGeom prst="roundRect">
            <a:avLst>
              <a:gd name="adj" fmla="val 962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blurRad="127000" dist="38100" dir="5400000" algn="bl" rotWithShape="0">
              <a:srgbClr val="5A6472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502920" y="6227198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1.14L sessions tracked     ●  Demand peaks Aug–Oct     ●  Clear daily &amp; hourly usage rhythm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02920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CHARGING INFRASTRUCTURE ANALYTICS  ·  TATA POWER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0591495" y="652881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16</a:t>
            </a:r>
            <a:endParaRPr lang="en-US" sz="800" dirty="0"/>
          </a:p>
        </p:txBody>
      </p:sp>
      <p:pic>
        <p:nvPicPr>
          <p:cNvPr id="11" name="Picture 10" descr="A screenshot of a computer">
            <a:extLst>
              <a:ext uri="{FF2B5EF4-FFF2-40B4-BE49-F238E27FC236}">
                <a16:creationId xmlns:a16="http://schemas.microsoft.com/office/drawing/2014/main" id="{36B37065-4543-C6C8-B24C-4927679DAD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53177"/>
            <a:ext cx="11185856" cy="475501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532534" cy="292608"/>
          </a:xfrm>
          <a:prstGeom prst="roundRect">
            <a:avLst>
              <a:gd name="adj" fmla="val 50000"/>
            </a:avLst>
          </a:prstGeom>
          <a:solidFill>
            <a:srgbClr val="E7F0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153253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2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Utilization &amp; Operational Efficiency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66344" y="1380744"/>
            <a:ext cx="11259007" cy="4749258"/>
          </a:xfrm>
          <a:prstGeom prst="roundRect">
            <a:avLst>
              <a:gd name="adj" fmla="val 963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blurRad="127000" dist="38100" dir="5400000" algn="bl" rotWithShape="0">
              <a:srgbClr val="5A6472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502920" y="622144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Overutilized vs underutilized stations     ●  Plug utilization by location     ●  Load distribution across districts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02920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CHARGING INFRASTRUCTURE ANALYTICS  ·  TATA POWER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0591495" y="652881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16</a:t>
            </a:r>
            <a:endParaRPr lang="en-US" sz="800" dirty="0"/>
          </a:p>
        </p:txBody>
      </p:sp>
      <p:pic>
        <p:nvPicPr>
          <p:cNvPr id="11" name="Picture 10" descr="A screenshot of a computer&#10;&#10;Description automatically generated">
            <a:extLst>
              <a:ext uri="{FF2B5EF4-FFF2-40B4-BE49-F238E27FC236}">
                <a16:creationId xmlns:a16="http://schemas.microsoft.com/office/drawing/2014/main" id="{5EF2F664-E585-E314-A96C-88C72983AE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08176"/>
            <a:ext cx="11185855" cy="47000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532534" cy="292608"/>
          </a:xfrm>
          <a:prstGeom prst="roundRect">
            <a:avLst>
              <a:gd name="adj" fmla="val 50000"/>
            </a:avLst>
          </a:prstGeom>
          <a:solidFill>
            <a:srgbClr val="E7F0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153253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2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&amp; Demand Behavior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66344" y="1380744"/>
            <a:ext cx="11259007" cy="4750873"/>
          </a:xfrm>
          <a:prstGeom prst="roundRect">
            <a:avLst>
              <a:gd name="adj" fmla="val 962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blurRad="127000" dist="38100" dir="5400000" algn="bl" rotWithShape="0">
              <a:srgbClr val="5A6472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502920" y="6223057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Usage &amp; cost by income tier     ●  Battery capacity behavior     ●  Session-level engagement patterns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02920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CHARGING INFRASTRUCTURE ANALYTICS  ·  TATA POWER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0591495" y="652881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16</a:t>
            </a:r>
            <a:endParaRPr lang="en-US" sz="800" dirty="0"/>
          </a:p>
        </p:txBody>
      </p:sp>
      <p:pic>
        <p:nvPicPr>
          <p:cNvPr id="11" name="Picture 10" descr="A screenshot of a computer&#10;&#10;Description automatically generated">
            <a:extLst>
              <a:ext uri="{FF2B5EF4-FFF2-40B4-BE49-F238E27FC236}">
                <a16:creationId xmlns:a16="http://schemas.microsoft.com/office/drawing/2014/main" id="{EB4464DC-6757-062F-9E94-0F0AB81F1C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08176"/>
            <a:ext cx="11185855" cy="47000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532534" cy="292608"/>
          </a:xfrm>
          <a:prstGeom prst="roundRect">
            <a:avLst>
              <a:gd name="adj" fmla="val 50000"/>
            </a:avLst>
          </a:prstGeom>
          <a:solidFill>
            <a:srgbClr val="E7F0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153253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2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Performance &amp; Expansion (ROI Focus)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66344" y="1380744"/>
            <a:ext cx="11259007" cy="4721243"/>
          </a:xfrm>
          <a:prstGeom prst="roundRect">
            <a:avLst>
              <a:gd name="adj" fmla="val 968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blurRad="127000" dist="38100" dir="5400000" algn="bl" rotWithShape="0">
              <a:srgbClr val="5A6472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502920" y="6193427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ROI % by district     ●  Payback period by charger type     ●  High-potential expansion sites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02920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CHARGING INFRASTRUCTURE ANALYTICS  ·  TATA POWER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0591495" y="652881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16</a:t>
            </a:r>
            <a:endParaRPr lang="en-US" sz="800" dirty="0"/>
          </a:p>
        </p:txBody>
      </p:sp>
      <p:pic>
        <p:nvPicPr>
          <p:cNvPr id="13" name="Picture 12" descr="A screenshot of a computer&#10;&#10;Description automatically generated">
            <a:extLst>
              <a:ext uri="{FF2B5EF4-FFF2-40B4-BE49-F238E27FC236}">
                <a16:creationId xmlns:a16="http://schemas.microsoft.com/office/drawing/2014/main" id="{66DD6ABC-95FE-859D-D9AB-2B6D336F97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08176"/>
            <a:ext cx="11222431" cy="469381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890979" cy="292608"/>
          </a:xfrm>
          <a:prstGeom prst="roundRect">
            <a:avLst>
              <a:gd name="adj" fmla="val 50000"/>
            </a:avLst>
          </a:prstGeom>
          <a:solidFill>
            <a:srgbClr val="E7F0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189097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2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&amp; Business Problem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5364328" cy="4709160"/>
          </a:xfrm>
          <a:prstGeom prst="roundRect">
            <a:avLst>
              <a:gd name="adj" fmla="val 1165"/>
            </a:avLst>
          </a:prstGeom>
          <a:solidFill>
            <a:srgbClr val="EFF4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48156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26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148840"/>
            <a:ext cx="48156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the performance, profitability, operational efficiency, and expansion potential of Tata Power's EV charging infrastructure across Bengaluru districts.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3154680"/>
            <a:ext cx="4815688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EV charging demand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charging station utilization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financial profitability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high-demand locations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infrastructure expansion decisions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operational efficiency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24448" y="1508760"/>
            <a:ext cx="5364328" cy="4709160"/>
          </a:xfrm>
          <a:prstGeom prst="roundRect">
            <a:avLst>
              <a:gd name="adj" fmla="val 1165"/>
            </a:avLst>
          </a:prstGeom>
          <a:solidFill>
            <a:srgbClr val="1023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598768" y="1783080"/>
            <a:ext cx="48156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26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98768" y="2148840"/>
            <a:ext cx="4815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Power wants to understand: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98768" y="2606040"/>
            <a:ext cx="4815688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D7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EV charging demand is growing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D7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existing stations can handle future demand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D7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stations are over- or under-utilized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D7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charging behavior patterns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D7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districts provide the highest ROI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D7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locations for future expansion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CHARGING INFRASTRUCTURE ANALYTICS  ·  TATA POWER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591495" y="652881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42923" cy="292608"/>
          </a:xfrm>
          <a:prstGeom prst="roundRect">
            <a:avLst>
              <a:gd name="adj" fmla="val 50000"/>
            </a:avLst>
          </a:prstGeom>
          <a:solidFill>
            <a:srgbClr val="E7F0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144292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2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Analytical Approach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5087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26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892808"/>
            <a:ext cx="5120640" cy="566928"/>
          </a:xfrm>
          <a:prstGeom prst="rect">
            <a:avLst/>
          </a:prstGeom>
          <a:solidFill>
            <a:srgbClr val="EFF4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40080" y="1892808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 Sessions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331720" y="1892808"/>
            <a:ext cx="3154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ID, kWh charged, revenue, duration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459736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Details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331720" y="2459736"/>
            <a:ext cx="3154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ID, district, plug count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3026664"/>
            <a:ext cx="5120640" cy="566928"/>
          </a:xfrm>
          <a:prstGeom prst="rect">
            <a:avLst/>
          </a:prstGeom>
          <a:solidFill>
            <a:srgbClr val="EFF4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40080" y="3026664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Details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331720" y="3026664"/>
            <a:ext cx="3154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ID, income tier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3593592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Details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331720" y="3593592"/>
            <a:ext cx="3154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model, battery capacity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4160520"/>
            <a:ext cx="5120640" cy="566928"/>
          </a:xfrm>
          <a:prstGeom prst="rect">
            <a:avLst/>
          </a:prstGeom>
          <a:solidFill>
            <a:srgbClr val="EFF4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40080" y="4160520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Data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331720" y="4160520"/>
            <a:ext cx="3154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CAPEX, ROI, EBITDA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80760" y="1508760"/>
            <a:ext cx="56080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26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80760" y="1892808"/>
            <a:ext cx="365760" cy="365760"/>
          </a:xfrm>
          <a:prstGeom prst="ellipse">
            <a:avLst/>
          </a:prstGeom>
          <a:solidFill>
            <a:srgbClr val="1023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080760" y="18928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0" y="1865376"/>
            <a:ext cx="5105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83680" y="2148840"/>
            <a:ext cx="51050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Imported 5 linked tables covering sessions, stations, customers, EVs and finances.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80760" y="2807208"/>
            <a:ext cx="365760" cy="365760"/>
          </a:xfrm>
          <a:prstGeom prst="ellipse">
            <a:avLst/>
          </a:prstGeom>
          <a:solidFill>
            <a:srgbClr val="1023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080760" y="28072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83680" y="2779776"/>
            <a:ext cx="5105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83680" y="3063240"/>
            <a:ext cx="51050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duplicates, handled missing values, standardized columns &amp; types.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080760" y="3721608"/>
            <a:ext cx="365760" cy="365760"/>
          </a:xfrm>
          <a:prstGeom prst="ellipse">
            <a:avLst/>
          </a:prstGeom>
          <a:solidFill>
            <a:srgbClr val="1023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080760" y="37216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583680" y="3694176"/>
            <a:ext cx="5105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0" y="3977640"/>
            <a:ext cx="51050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Month/Quarter/Year, time-of-day bands, income tiers &amp; battery ranges.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080760" y="4636008"/>
            <a:ext cx="365760" cy="365760"/>
          </a:xfrm>
          <a:prstGeom prst="ellipse">
            <a:avLst/>
          </a:prstGeom>
          <a:solidFill>
            <a:srgbClr val="1023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080760" y="46360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583680" y="4608576"/>
            <a:ext cx="5105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583680" y="4892040"/>
            <a:ext cx="51050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tables via Session ID, Station ID, Customer ID &amp; District for KPI-ready analysis.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2920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CHARGING INFRASTRUCTURE ANALYTICS  ·  TATA POWER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0591495" y="652881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16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42923" cy="292608"/>
          </a:xfrm>
          <a:prstGeom prst="roundRect">
            <a:avLst>
              <a:gd name="adj" fmla="val 50000"/>
            </a:avLst>
          </a:prstGeom>
          <a:solidFill>
            <a:srgbClr val="E7F0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144292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2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KPIs Across the Network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2604440" cy="1417320"/>
          </a:xfrm>
          <a:prstGeom prst="roundRect">
            <a:avLst>
              <a:gd name="adj" fmla="val 5806"/>
            </a:avLst>
          </a:prstGeom>
          <a:solidFill>
            <a:srgbClr val="E7F0FA"/>
          </a:solidFill>
          <a:ln/>
          <a:effectLst>
            <a:outerShdw blurRad="76200" dist="25400" dir="5400000" algn="bl" rotWithShape="0">
              <a:srgbClr val="8A93A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12648" y="1783080"/>
            <a:ext cx="2384984" cy="7370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1,14,000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12648" y="2513686"/>
            <a:ext cx="2384984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charging sessions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63392" y="1691640"/>
            <a:ext cx="2604440" cy="1417320"/>
          </a:xfrm>
          <a:prstGeom prst="roundRect">
            <a:avLst>
              <a:gd name="adj" fmla="val 5806"/>
            </a:avLst>
          </a:prstGeom>
          <a:solidFill>
            <a:srgbClr val="E7F0FA"/>
          </a:solidFill>
          <a:ln/>
          <a:effectLst>
            <a:outerShdw blurRad="76200" dist="25400" dir="5400000" algn="bl" rotWithShape="0">
              <a:srgbClr val="8A93A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473120" y="1783080"/>
            <a:ext cx="2384984" cy="7370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28,59,772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473120" y="2513686"/>
            <a:ext cx="2384984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kWh charged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223864" y="1691640"/>
            <a:ext cx="2604440" cy="1417320"/>
          </a:xfrm>
          <a:prstGeom prst="roundRect">
            <a:avLst>
              <a:gd name="adj" fmla="val 5806"/>
            </a:avLst>
          </a:prstGeom>
          <a:solidFill>
            <a:srgbClr val="E7F0FA"/>
          </a:solidFill>
          <a:ln/>
          <a:effectLst>
            <a:outerShdw blurRad="76200" dist="25400" dir="5400000" algn="bl" rotWithShape="0">
              <a:srgbClr val="8A93A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333592" y="1783080"/>
            <a:ext cx="2384984" cy="7370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₹4.97 Cr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333592" y="2513686"/>
            <a:ext cx="2384984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084335" y="1691640"/>
            <a:ext cx="2604440" cy="1417320"/>
          </a:xfrm>
          <a:prstGeom prst="roundRect">
            <a:avLst>
              <a:gd name="adj" fmla="val 5806"/>
            </a:avLst>
          </a:prstGeom>
          <a:solidFill>
            <a:srgbClr val="E7F0FA"/>
          </a:solidFill>
          <a:ln/>
          <a:effectLst>
            <a:outerShdw blurRad="76200" dist="25400" dir="5400000" algn="bl" rotWithShape="0">
              <a:srgbClr val="8A93A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9194063" y="1783080"/>
            <a:ext cx="2384984" cy="7370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8,000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194063" y="2513686"/>
            <a:ext cx="2384984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customers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2920" y="3364992"/>
            <a:ext cx="2604440" cy="1417320"/>
          </a:xfrm>
          <a:prstGeom prst="roundRect">
            <a:avLst>
              <a:gd name="adj" fmla="val 5806"/>
            </a:avLst>
          </a:prstGeom>
          <a:solidFill>
            <a:srgbClr val="E7F0FA"/>
          </a:solidFill>
          <a:ln/>
          <a:effectLst>
            <a:outerShdw blurRad="76200" dist="25400" dir="5400000" algn="bl" rotWithShape="0">
              <a:srgbClr val="8A93A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12648" y="3456432"/>
            <a:ext cx="2384984" cy="7370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₹436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12648" y="4187038"/>
            <a:ext cx="2384984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revenue / session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363392" y="3364992"/>
            <a:ext cx="2604440" cy="1417320"/>
          </a:xfrm>
          <a:prstGeom prst="roundRect">
            <a:avLst>
              <a:gd name="adj" fmla="val 5806"/>
            </a:avLst>
          </a:prstGeom>
          <a:solidFill>
            <a:srgbClr val="E7F0FA"/>
          </a:solidFill>
          <a:ln/>
          <a:effectLst>
            <a:outerShdw blurRad="76200" dist="25400" dir="5400000" algn="bl" rotWithShape="0">
              <a:srgbClr val="8A93A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473120" y="3456432"/>
            <a:ext cx="2384984" cy="7370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kWh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473120" y="4187038"/>
            <a:ext cx="2384984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energy / session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223864" y="3364992"/>
            <a:ext cx="2604440" cy="1417320"/>
          </a:xfrm>
          <a:prstGeom prst="roundRect">
            <a:avLst>
              <a:gd name="adj" fmla="val 5806"/>
            </a:avLst>
          </a:prstGeom>
          <a:solidFill>
            <a:srgbClr val="E7F0FA"/>
          </a:solidFill>
          <a:ln/>
          <a:effectLst>
            <a:outerShdw blurRad="76200" dist="25400" dir="5400000" algn="bl" rotWithShape="0">
              <a:srgbClr val="8A93A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333592" y="3456432"/>
            <a:ext cx="2384984" cy="7370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145%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333592" y="4187038"/>
            <a:ext cx="2384984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district ROI (Bommanahalli)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084335" y="3364992"/>
            <a:ext cx="2604440" cy="1417320"/>
          </a:xfrm>
          <a:prstGeom prst="roundRect">
            <a:avLst>
              <a:gd name="adj" fmla="val 5806"/>
            </a:avLst>
          </a:prstGeom>
          <a:solidFill>
            <a:srgbClr val="E7F0FA"/>
          </a:solidFill>
          <a:ln/>
          <a:effectLst>
            <a:outerShdw blurRad="76200" dist="25400" dir="5400000" algn="bl" rotWithShape="0">
              <a:srgbClr val="8A93A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9194063" y="3456432"/>
            <a:ext cx="2384984" cy="7370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329.6%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9194063" y="4187038"/>
            <a:ext cx="2384984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5-yr ROI potential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02920" y="5084064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Sourced from Excel Power Pivot measures and mirrored across all four Power BI dashboard pages.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CHARGING INFRASTRUCTURE ANALYTICS  ·  TATA POWER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591495" y="652881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16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353312" cy="292608"/>
          </a:xfrm>
          <a:prstGeom prst="roundRect">
            <a:avLst>
              <a:gd name="adj" fmla="val 50000"/>
            </a:avLst>
          </a:prstGeom>
          <a:solidFill>
            <a:srgbClr val="E7F0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1353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2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Charging Demand Evolving?</a:t>
            </a:r>
            <a:endParaRPr lang="en-US" sz="26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02920" y="1508760"/>
          <a:ext cx="630936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502920" y="3977640"/>
          <a:ext cx="630936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7178040" y="1508760"/>
            <a:ext cx="4510735" cy="4617720"/>
          </a:xfrm>
          <a:prstGeom prst="roundRect">
            <a:avLst>
              <a:gd name="adj" fmla="val 1216"/>
            </a:avLst>
          </a:prstGeom>
          <a:solidFill>
            <a:srgbClr val="EFF4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4"/>
          <p:cNvSpPr/>
          <p:nvPr/>
        </p:nvSpPr>
        <p:spPr>
          <a:xfrm>
            <a:off x="7406640" y="1709928"/>
            <a:ext cx="4053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26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7406640" y="2075688"/>
            <a:ext cx="4053535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climbs steadily from Aug to Oct, then drops sharply in Nov — a seasonal or data-window effect worth tracking.</a:t>
            </a:r>
            <a:endParaRPr lang="en-US" sz="11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usage (Mon–Wed) consistently outpaces weekends.</a:t>
            </a:r>
            <a:endParaRPr lang="en-US" sz="11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data shows two clear peaks: mid-morning (8–15h) and a smaller evening band, aligning with commuter charging.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502920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CHARGING INFRASTRUCTURE ANALYTICS  ·  TATA POWER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10591495" y="652881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16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353312" cy="292608"/>
          </a:xfrm>
          <a:prstGeom prst="roundRect">
            <a:avLst>
              <a:gd name="adj" fmla="val 50000"/>
            </a:avLst>
          </a:prstGeom>
          <a:solidFill>
            <a:srgbClr val="E7F0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1353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2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Stations Need Capacity Action?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5364328" cy="2331720"/>
          </a:xfrm>
          <a:prstGeom prst="roundRect">
            <a:avLst>
              <a:gd name="adj" fmla="val 2353"/>
            </a:avLst>
          </a:prstGeom>
          <a:solidFill>
            <a:srgbClr val="FDED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4907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50" dirty="0">
                <a:solidFill>
                  <a:srgbClr val="F26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OVERUTILIZED — EXPAND CAPACITY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4907128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Yelahanka, HSR Layout, Koramangala, Jayanagar &amp; Rajajinagar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projected demand far exceeding station density — the clearest candidates for new infrastructure investment.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324448" y="1508760"/>
            <a:ext cx="5364328" cy="2331720"/>
          </a:xfrm>
          <a:prstGeom prst="roundRect">
            <a:avLst>
              <a:gd name="adj" fmla="val 2353"/>
            </a:avLst>
          </a:prstGeom>
          <a:solidFill>
            <a:srgbClr val="EFF4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553048" y="1691640"/>
            <a:ext cx="4907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5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UNDERUTILIZED — OPTIMIZE FIRST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553048" y="2011680"/>
            <a:ext cx="4907128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Anekal &amp; Byatarayanapura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station density higher than projected demand — infrastructure is sufficient; focus on driving usage before adding plugs.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4023360"/>
            <a:ext cx="11185855" cy="960120"/>
          </a:xfrm>
          <a:prstGeom prst="roundRect">
            <a:avLst>
              <a:gd name="adj" fmla="val 5714"/>
            </a:avLst>
          </a:prstGeom>
          <a:solidFill>
            <a:srgbClr val="1023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77240" y="416052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6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88920" y="4023360"/>
            <a:ext cx="862553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new capacity in high-utilization districts while increasing customer engagement in underutilized ones before further expansion spend.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5166360"/>
            <a:ext cx="111858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distribution: </a:t>
            </a: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Indiranagar, Rajajinagar &amp; Jayanagar carry the heaviest session load; Anekal carries the least and is not a capacity priority.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2920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CHARGING INFRASTRUCTURE ANALYTICS  ·  TATA POWER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0591495" y="652881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16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353312" cy="292608"/>
          </a:xfrm>
          <a:prstGeom prst="roundRect">
            <a:avLst>
              <a:gd name="adj" fmla="val 50000"/>
            </a:avLst>
          </a:prstGeom>
          <a:solidFill>
            <a:srgbClr val="E7F0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1353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2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Customers Drive Usage &amp; Revenue?</a:t>
            </a:r>
            <a:endParaRPr lang="en-US" sz="26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02920" y="1508760"/>
          <a:ext cx="576072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629400" y="1508760"/>
            <a:ext cx="5059375" cy="4480560"/>
          </a:xfrm>
          <a:prstGeom prst="roundRect">
            <a:avLst>
              <a:gd name="adj" fmla="val 1224"/>
            </a:avLst>
          </a:prstGeom>
          <a:solidFill>
            <a:srgbClr val="EFF4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6858000" y="1709928"/>
            <a:ext cx="46021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26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858000" y="2075688"/>
            <a:ext cx="4602175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Mid-Range income tier drives the highest kWh and revenue — the strongest overall utilization segment.</a:t>
            </a:r>
            <a:endParaRPr lang="en-US" sz="11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Low-Mid tier has the most customers, contributing the second-highest energy &amp; revenue.</a:t>
            </a:r>
            <a:endParaRPr lang="en-US" sz="11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income tier has fewer, lighter users — lowest consumption of the three groups.</a:t>
            </a:r>
            <a:endParaRPr lang="en-US" sz="11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29.2 kWh and 66.5 kWh battery segments account for the highest charging activity, marking the dominant EV models on the network.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02920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CHARGING INFRASTRUCTURE ANALYTICS  ·  TATA POWER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0591495" y="652881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353312" cy="292608"/>
          </a:xfrm>
          <a:prstGeom prst="roundRect">
            <a:avLst>
              <a:gd name="adj" fmla="val 50000"/>
            </a:avLst>
          </a:prstGeom>
          <a:solidFill>
            <a:srgbClr val="E7F0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1353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2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Districts Deliver the Best ROI?</a:t>
            </a:r>
            <a:endParaRPr lang="en-US" sz="26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02920" y="1508760"/>
          <a:ext cx="630936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178040" y="1508760"/>
            <a:ext cx="4510735" cy="4480560"/>
          </a:xfrm>
          <a:prstGeom prst="roundRect">
            <a:avLst>
              <a:gd name="adj" fmla="val 1224"/>
            </a:avLst>
          </a:prstGeom>
          <a:solidFill>
            <a:srgbClr val="1023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7406640" y="1709928"/>
            <a:ext cx="4053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26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OPPORTUNITIES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406640" y="2103120"/>
            <a:ext cx="405353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Banashankari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406640" y="2350008"/>
            <a:ext cx="405353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5-yr ROI 641% on ₹1,150.9L CAPEX — top expansion priority.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406640" y="3035808"/>
            <a:ext cx="405353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Jayanagar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406640" y="3282696"/>
            <a:ext cx="405353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5-yr ROI 473% backed by strong demand (₹961L CAPEX).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406640" y="3968496"/>
            <a:ext cx="405353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Yelahanka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406640" y="4215384"/>
            <a:ext cx="405353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5-yr ROI 435% with solid station capability.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406640" y="4901184"/>
            <a:ext cx="405353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406640" y="5148072"/>
            <a:ext cx="405353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Level-2 (7.4kW) pays back fastest at 1.6 yrs; DC Fast (50kW) slowest at 10.2 yrs.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02920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CHARGING INFRASTRUCTURE ANALYTICS  ·  TATA POWER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0591495" y="652881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084478" cy="292608"/>
          </a:xfrm>
          <a:prstGeom prst="roundRect">
            <a:avLst>
              <a:gd name="adj" fmla="val 50000"/>
            </a:avLst>
          </a:prstGeom>
          <a:solidFill>
            <a:srgbClr val="E7F0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108447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2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463040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analyzed EV charging infrastructure performance across 18 districts — evaluating demand, station utilization, customer behavior, and financial returns to guide Tata Power's expansion strategy.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2331720"/>
            <a:ext cx="5432908" cy="1170432"/>
          </a:xfrm>
          <a:prstGeom prst="roundRect">
            <a:avLst>
              <a:gd name="adj" fmla="val 4688"/>
            </a:avLst>
          </a:prstGeom>
          <a:solidFill>
            <a:srgbClr val="EFF4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04088" y="2441448"/>
            <a:ext cx="50305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F26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04088" y="2715768"/>
            <a:ext cx="50305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charging demand is rising steadily, with heavy energy use across major districts.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55868" y="2331720"/>
            <a:ext cx="5432908" cy="1170432"/>
          </a:xfrm>
          <a:prstGeom prst="roundRect">
            <a:avLst>
              <a:gd name="adj" fmla="val 4688"/>
            </a:avLst>
          </a:prstGeom>
          <a:solidFill>
            <a:srgbClr val="EFF4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457036" y="2441448"/>
            <a:ext cx="50305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F26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GAPS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57036" y="2715768"/>
            <a:ext cx="50305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Yelahanka, Rajajinagar, Jayanagar, HSR Layout &amp; Koramangala show signs of capacity strain.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3639312"/>
            <a:ext cx="5432908" cy="1170432"/>
          </a:xfrm>
          <a:prstGeom prst="roundRect">
            <a:avLst>
              <a:gd name="adj" fmla="val 4688"/>
            </a:avLst>
          </a:prstGeom>
          <a:solidFill>
            <a:srgbClr val="EFF4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04088" y="3749040"/>
            <a:ext cx="50305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F26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UNDERUSED SITES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04088" y="4023360"/>
            <a:ext cx="50305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Anekal &amp; Byatarayanapura have spare capacity — optimize usage before expanding.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55868" y="3639312"/>
            <a:ext cx="5432908" cy="1170432"/>
          </a:xfrm>
          <a:prstGeom prst="roundRect">
            <a:avLst>
              <a:gd name="adj" fmla="val 4688"/>
            </a:avLst>
          </a:prstGeom>
          <a:solidFill>
            <a:srgbClr val="EFF4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457036" y="3749040"/>
            <a:ext cx="50305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F26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CUSTOMERS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57036" y="4023360"/>
            <a:ext cx="50305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Mid-Range income customers are the most valuable segment by usage and revenue.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4946904"/>
            <a:ext cx="5432908" cy="1170432"/>
          </a:xfrm>
          <a:prstGeom prst="roundRect">
            <a:avLst>
              <a:gd name="adj" fmla="val 4688"/>
            </a:avLst>
          </a:prstGeom>
          <a:solidFill>
            <a:srgbClr val="EFF4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04088" y="5056632"/>
            <a:ext cx="50305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F26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EVS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04088" y="5330952"/>
            <a:ext cx="50305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29.2 kWh and 66.5 kWh battery classes drive the highest charging activity.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55868" y="4946904"/>
            <a:ext cx="5432908" cy="1170432"/>
          </a:xfrm>
          <a:prstGeom prst="roundRect">
            <a:avLst>
              <a:gd name="adj" fmla="val 4688"/>
            </a:avLst>
          </a:prstGeom>
          <a:solidFill>
            <a:srgbClr val="EFF4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457036" y="5056632"/>
            <a:ext cx="50305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F26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ROI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57036" y="5330952"/>
            <a:ext cx="50305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Bommanahalli, Banashankari, Jayanagar &amp; Yelahanka deliver the strongest financial returns.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2920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CHARGING INFRASTRUCTURE ANALYTICS  ·  TATA POWER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591495" y="652881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2286000"/>
            <a:ext cx="5486400" cy="5486400"/>
          </a:xfrm>
          <a:prstGeom prst="ellipse">
            <a:avLst/>
          </a:prstGeom>
          <a:solidFill>
            <a:srgbClr val="1632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6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RECOMMENDATION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Balanced, ROI-Driven Expansion Strategy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2148840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Power should expand infrastructure in high-demand, high-ROI districts while improving utilization in underperforming locations — combining demand forecasting, operational optimization, and ROI-driven investment.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3246120"/>
            <a:ext cx="2604440" cy="1965960"/>
          </a:xfrm>
          <a:prstGeom prst="roundRect">
            <a:avLst>
              <a:gd name="adj" fmla="val 3256"/>
            </a:avLst>
          </a:prstGeom>
          <a:solidFill>
            <a:srgbClr val="16324F"/>
          </a:solidFill>
          <a:ln w="12700">
            <a:solidFill>
              <a:srgbClr val="2A4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67512" y="3410712"/>
            <a:ext cx="22752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6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" y="3776472"/>
            <a:ext cx="227525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7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Banashankari, Jayanagar &amp; Yelahanka for new station rollouts.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63392" y="3246120"/>
            <a:ext cx="2604440" cy="1965960"/>
          </a:xfrm>
          <a:prstGeom prst="roundRect">
            <a:avLst>
              <a:gd name="adj" fmla="val 3256"/>
            </a:avLst>
          </a:prstGeom>
          <a:solidFill>
            <a:srgbClr val="16324F"/>
          </a:solidFill>
          <a:ln w="12700">
            <a:solidFill>
              <a:srgbClr val="2A4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527984" y="3410712"/>
            <a:ext cx="22752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6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27984" y="3776472"/>
            <a:ext cx="227525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7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engagement in Anekal &amp; Byatarayanapura before adding capacity.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23864" y="3246120"/>
            <a:ext cx="2604440" cy="1965960"/>
          </a:xfrm>
          <a:prstGeom prst="roundRect">
            <a:avLst>
              <a:gd name="adj" fmla="val 3256"/>
            </a:avLst>
          </a:prstGeom>
          <a:solidFill>
            <a:srgbClr val="16324F"/>
          </a:solidFill>
          <a:ln w="12700">
            <a:solidFill>
              <a:srgbClr val="2A4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388456" y="3410712"/>
            <a:ext cx="22752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6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88456" y="3776472"/>
            <a:ext cx="227525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7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demand trends to time infrastructure investment ahead of strain points.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084335" y="3246120"/>
            <a:ext cx="2604440" cy="1965960"/>
          </a:xfrm>
          <a:prstGeom prst="roundRect">
            <a:avLst>
              <a:gd name="adj" fmla="val 3256"/>
            </a:avLst>
          </a:prstGeom>
          <a:solidFill>
            <a:srgbClr val="16324F"/>
          </a:solidFill>
          <a:ln w="12700">
            <a:solidFill>
              <a:srgbClr val="2A4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9248927" y="3410712"/>
            <a:ext cx="22752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6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248927" y="3776472"/>
            <a:ext cx="227525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7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CAPEX against payback period to protect long-term profitability.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CHARGING INFRASTRUCTURE ANALYTICS  ·  TATA POWER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591495" y="652881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389120"/>
            <a:ext cx="3657600" cy="3657600"/>
          </a:xfrm>
          <a:prstGeom prst="ellipse">
            <a:avLst/>
          </a:prstGeom>
          <a:solidFill>
            <a:srgbClr val="EFF4F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/home/claude/work/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40080"/>
            <a:ext cx="1234440" cy="7589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265176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502920" y="342900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Charging Infrastructure Analytics — Tata Power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" y="4114800"/>
            <a:ext cx="1005840" cy="0"/>
          </a:xfrm>
          <a:prstGeom prst="line">
            <a:avLst/>
          </a:prstGeom>
          <a:noFill/>
          <a:ln w="31750">
            <a:solidFill>
              <a:srgbClr val="F26E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502920" y="42976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Shubham Paitwar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 ·  Excel Power Pivot &amp; Power BI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02920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CHARGING INFRASTRUCTURE ANALYTICS  ·  TATA POWER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0591495" y="652881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1200</Words>
  <Application>Microsoft Office PowerPoint</Application>
  <PresentationFormat>Widescreen</PresentationFormat>
  <Paragraphs>205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shubham paitwar</cp:lastModifiedBy>
  <cp:revision>2</cp:revision>
  <dcterms:created xsi:type="dcterms:W3CDTF">2026-07-17T11:46:40Z</dcterms:created>
  <dcterms:modified xsi:type="dcterms:W3CDTF">2026-07-17T13:25:47Z</dcterms:modified>
</cp:coreProperties>
</file>